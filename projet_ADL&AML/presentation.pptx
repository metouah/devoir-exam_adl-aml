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PlantVillage — Accuracy comparative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0.56</c:v>
                </c:pt>
                <c:pt idx="2">
                  <c:v>0.87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composantes PCA par importance SHAP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|SHAP| moyen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  <c:pt idx="8">
                    <c:v>PC9</c:v>
                  </c:pt>
                  <c:pt idx="9">
                    <c:v>PC10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0.42</c:v>
                </c:pt>
                <c:pt idx="1">
                  <c:v>0.31</c:v>
                </c:pt>
                <c:pt idx="2">
                  <c:v>0.22</c:v>
                </c:pt>
                <c:pt idx="3">
                  <c:v>0.18</c:v>
                </c:pt>
                <c:pt idx="4">
                  <c:v>0.15</c:v>
                </c:pt>
                <c:pt idx="5">
                  <c:v>0.12</c:v>
                </c:pt>
                <c:pt idx="6">
                  <c:v>0.1</c:v>
                </c:pt>
                <c:pt idx="7">
                  <c:v>0.09</c:v>
                </c:pt>
                <c:pt idx="8">
                  <c:v>0.08</c:v>
                </c:pt>
                <c:pt idx="9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0.56</c:v>
                </c:pt>
                <c:pt idx="2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Temps relatif (normalisé)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0.025</c:v>
                </c:pt>
                <c:pt idx="2">
                  <c:v>1.08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0.56</c:v>
                </c:pt>
                <c:pt idx="2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0.84</c:v>
                </c:pt>
                <c:pt idx="1">
                  <c:v>0.54</c:v>
                </c:pt>
                <c:pt idx="2">
                  <c:v>0.86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0.7</c:v>
                </c:pt>
                <c:pt idx="2">
                  <c:v>0.82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DL seul</c:v>
                  </c:pt>
                  <c:pt idx="1">
                    <c:v>ML seul</c:v>
                  </c:pt>
                  <c:pt idx="2">
                    <c:v>Hybride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</c:v>
                </c:pt>
                <c:pt idx="1">
                  <c:v>0.69</c:v>
                </c:pt>
                <c:pt idx="2">
                  <c:v>0.81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Hybride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× Machine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Comparative — PlantVillage &amp; Consommation Électrique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+ LSTM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UMAP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(RF + LGB + XGB)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3657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Scientifiques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MC Dropout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 | Google Colab T4 GPU | Python 3.10 | TensorFlow 2.x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datasets, trois paradigmes comparés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59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extracteur → PCA → méta-modèle 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 — PlantVillage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+ classification maladies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3192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 — Consommation Électrique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Conv1D+LSTM + profils de conso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91440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1440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Scientifiques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à Q8 : archi, valid., SHAP, fairness, CO₂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2024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Comparatifs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359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seul vs ML seul vs Hybride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92608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92608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068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&amp; Équité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364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MC Dropout, analyse de biais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931920"/>
            <a:ext cx="4206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931920"/>
            <a:ext cx="502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4370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Apports et pistes d'amélioration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pipeline hybride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seul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Puissant mais boîte noire, coûteux, peu interprétable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seul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 mais limité sur données brutes complexes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 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= extracteur de features → ML = classificateur interprétable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Comparer les 3 paradigmes sur 2 domaines hétérogènes (vision + séries temporelles)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Hybride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128×128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24h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18872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37474F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691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/ Aug.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18872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Conv1D+LSTM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18872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00838F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50D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UMAP 20D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18872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Méta-ML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1691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RF+LGB+XGB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1874520"/>
            <a:ext cx="91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566160" y="1874520"/>
            <a:ext cx="91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303520" y="1874520"/>
            <a:ext cx="91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040880" y="1874520"/>
            <a:ext cx="91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détaillés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169164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089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(ImageNet)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 + LSTM (scratch)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Réduction dim.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50 composantes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/ UMAP (empirique)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Méta-modèle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(RF+LGB+XGB+LR)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(RF+LGB+XGB+LR)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 — PlantVillage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3840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8346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 classes maladies foliaires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Subset : 5 000 images / 10 classes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64/16/20% (train/val/test)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Images 128×128px normalisées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834640" cy="3840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8346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EfficientNetB0 pré-entraîné (ImageNet)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GlobalAvgPool → Dense(256) → Drop(0.3)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Dense(10, Softmax)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 + ReduceLROnPlateau + EarlyStopping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097280"/>
            <a:ext cx="2834640" cy="3840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97280"/>
            <a:ext cx="28346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couche avant-dernière (1280D)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StandardScaler → PCA 50D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: RF + LightGBM + XGBoost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estimator : LogisticRegression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 — Consommation Électrique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Household Electric Power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lignes (sous-ensemble Colab)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Puissance, tension, intensité, sous-métrages, heure, jour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Tertiles puissance active : Bas / Moyen / Élevé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Séquences 24h glissantes (window=24)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synthétiques si téléchargement UCI échoue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Conv1D + LSTM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38404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00838F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Conv1D(64, 3)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57400" y="38404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00838F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Conv1D(128, 3)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38404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00838F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LSTM(64)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0680" y="38404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00838F"/>
          </a:solidFill>
          <a:ln/>
        </p:spPr>
      </p:sp>
      <p:sp>
        <p:nvSpPr>
          <p:cNvPr id="13" name="Text 10"/>
          <p:cNvSpPr/>
          <p:nvPr/>
        </p:nvSpPr>
        <p:spPr>
          <a:xfrm>
            <a:off x="544068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Dense(32)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38404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00838F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3886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Justification EfficientNetB0  |  Q2 — Réduction Dimensionnelle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530352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554480"/>
                <a:gridCol w="64008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ImageNet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lourd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Réduction Dimensionnelle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97880" y="1600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Aucune: dim=1280D | Silhouette=— | t=—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✓: dim=50D | Silhouette=~0.42 | t=&lt;1s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UMAP: dim=20D | Silhouette=~0.44 | t=~30s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Q1+Q2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" y="3703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: ratio performance/efficacité optimal pour Colab T4 (5.3M params, 77.1% ImageNet). PCA retenue : features DL déjà comprimées → non-linéarité UMAP non nécessaire, Silhouette Score équivalent à 30× moins de temps.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UMAP présente un risque de « hubbing » sur features DL normalisées + coût computationnel 30× supérieur à PCA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Méta-modèles ML  |  Q4 — Validation Croisée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Comparaison méta-modèles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530352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5156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Validation CV 5-fold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PlantVillage: DL: 0.85 | ML: 0.56 | Hybride: 0.86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0" y="1938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hybride: +30pp vs ML seul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Électrique: DL: 0.75 | ML: 0.72 | Hybride: 0.81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7066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hybride: +9pp vs ML seul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74320" y="315468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Interprétabilité SHAP + Permutation Importance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SHAP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Problème : StackingClassifier incompatible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shap.TreeExplainer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: shap.TreeExplainer sur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base learner RF du Stacking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609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échantillons de test analysés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912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names : PC1, PC2, ..., PC50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216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PC1–PC10 concentrent ~85%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l'importance SHAP totale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Cohérent avec la variance PCA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premières composantes = signal sémantique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Permutation Importance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754880" y="150876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Incertitude Prédictive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MC Dropout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passes forward (training=True)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Confiance déterministe : ~0.81 ± 0.09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Confiance MC Dropout   : ~0.78 ± 0.12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Entropie prédictive moy : ~0.85 nats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MC meilleure (↓ overconfidence)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Variance faible sur exemples typiques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20624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Électrique — Deep Ensemble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RF bootstrappés (max_samples=0.8)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Variance prédictive moy : ~0.002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Confiance ensemble : ~0.88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Très faible variance = profils bien structurés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 robuste aux outliers de consommation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Comparable à MC Dropout sans dropout explicite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Analyse d'Équité (Fairness)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828800"/>
                <a:gridCol w="182880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sensible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|A−B|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 vs Malade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Sain: Acc=0.53 (N=55)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Malade: Acc=0.82 (N=695)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~0.30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 vs Nuit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 (7h-22h)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Nuit (22h-7h)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~0.04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PlantVillage — Biais classes saines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Cause : sous-représentation des plants sains dans le subset 5k (N=55 en test vs N=695 malades)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3657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Impact : accuracy des classes saines 29 points en dessous des classes malades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recommandée : SMOTE / suréchantillonnage ou pondération inverse fréquence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389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 seul présente un écart inférieur (0.19) mais une accuracy globale bien plus faible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Électrique : équité quasi-parfaite (Δ~0.04) — patterns jour/nuit bien capturés par LSTM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Coût Computationnel &amp; Empreinte CO₂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8288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Énergie (kg CO₂)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Inférence 100ex.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seul (EfficientNetB0)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seul (RF + pixels)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Hybride (DL+PCA+Stack)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Conv1D+LSTM (Élec.)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3566160"/>
          <a:ext cx="85953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Comparatifs — Synthèse Globale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50876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Électrique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50876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Subset 5k images PlantVillage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(10/38 classes)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Fine-tuning EfficientNetB0 partiel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de dégel couches profondes)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SHAP sur composantes PCA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sur pixels originaux)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Fairness simplifiée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 par groupe uniquement)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Données électriques parfois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206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78992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Dégel progressif couches DL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(fine-tuning complet)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SMOTE / reweighting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équité classes saines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Déploiement API 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monitoring drift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Extension multi-tâches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(segmentation + classification)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206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SHAP sur features d'entrée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IG (Integrated Gradients)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hybride surpasse DL seul et ML seul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deux datasets (+3 à +30pp accuracy)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A237E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Permutation Importance montrent 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PC1–PC10 concentrent l'essentiel du signal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A237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identifié sur PlantVillage (classes saines)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solutions de rééchantillonnage recommandées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A237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3200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CO₂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 hybride marginal (+8% temps) 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significatif en interprétabilité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 | Reproductible | Google Colab T4 | Open Source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Hybride DL × ML</dc:title>
  <dc:subject>PptxGenJS Presentation</dc:subject>
  <dc:creator>PptxGenJS</dc:creator>
  <cp:lastModifiedBy>PptxGenJS</cp:lastModifiedBy>
  <cp:revision>1</cp:revision>
  <dcterms:created xsi:type="dcterms:W3CDTF">2026-06-13T10:20:23Z</dcterms:created>
  <dcterms:modified xsi:type="dcterms:W3CDTF">2026-06-13T10:20:23Z</dcterms:modified>
</cp:coreProperties>
</file>